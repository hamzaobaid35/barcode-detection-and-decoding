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8" r:id="rId1"/>
  </p:sldMasterIdLst>
  <p:sldIdLst>
    <p:sldId id="256" r:id="rId2"/>
    <p:sldId id="257" r:id="rId3"/>
    <p:sldId id="258" r:id="rId4"/>
    <p:sldId id="262" r:id="rId5"/>
    <p:sldId id="263" r:id="rId6"/>
    <p:sldId id="265" r:id="rId7"/>
    <p:sldId id="267" r:id="rId8"/>
    <p:sldId id="270" r:id="rId9"/>
    <p:sldId id="268" r:id="rId10"/>
    <p:sldId id="269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0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ar-SA"/>
              <a:t>انقر لتحرير نمط العنوان الفرعي للشكل الرئيسي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2B312DC2-B37A-4870-B1FF-DA17B044F23D}" type="datetimeFigureOut">
              <a:rPr lang="ar-SA" smtClean="0"/>
              <a:t>13/08/46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ar-SA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1806DECA-DC29-48F0-869F-2678D342CA1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246357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12DC2-B37A-4870-B1FF-DA17B044F23D}" type="datetimeFigureOut">
              <a:rPr lang="ar-SA" smtClean="0"/>
              <a:t>13/08/46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6DECA-DC29-48F0-869F-2678D342CA1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873660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12DC2-B37A-4870-B1FF-DA17B044F23D}" type="datetimeFigureOut">
              <a:rPr lang="ar-SA" smtClean="0"/>
              <a:t>13/08/46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6DECA-DC29-48F0-869F-2678D342CA1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79652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12DC2-B37A-4870-B1FF-DA17B044F23D}" type="datetimeFigureOut">
              <a:rPr lang="ar-SA" smtClean="0"/>
              <a:t>13/08/46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6DECA-DC29-48F0-869F-2678D342CA1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292215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12DC2-B37A-4870-B1FF-DA17B044F23D}" type="datetimeFigureOut">
              <a:rPr lang="ar-SA" smtClean="0"/>
              <a:t>13/08/46</a:t>
            </a:fld>
            <a:endParaRPr lang="ar-S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6DECA-DC29-48F0-869F-2678D342CA1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178296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12DC2-B37A-4870-B1FF-DA17B044F23D}" type="datetimeFigureOut">
              <a:rPr lang="ar-SA" smtClean="0"/>
              <a:t>13/08/46</a:t>
            </a:fld>
            <a:endParaRPr lang="ar-S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6DECA-DC29-48F0-869F-2678D342CA1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680419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12DC2-B37A-4870-B1FF-DA17B044F23D}" type="datetimeFigureOut">
              <a:rPr lang="ar-SA" smtClean="0"/>
              <a:t>13/08/46</a:t>
            </a:fld>
            <a:endParaRPr lang="ar-S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6DECA-DC29-48F0-869F-2678D342CA1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002361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12DC2-B37A-4870-B1FF-DA17B044F23D}" type="datetimeFigureOut">
              <a:rPr lang="ar-SA" smtClean="0"/>
              <a:t>13/08/46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6DECA-DC29-48F0-869F-2678D342CA1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248445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ar-SA"/>
              <a:t>انقر فوق الأيقونة لإضافة صورة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12DC2-B37A-4870-B1FF-DA17B044F23D}" type="datetimeFigureOut">
              <a:rPr lang="ar-SA" smtClean="0"/>
              <a:t>13/08/46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6DECA-DC29-48F0-869F-2678D342CA1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301135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صورة بانورامي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ar-SA"/>
              <a:t>انقر فوق الأيقونة لإضافة صورة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12DC2-B37A-4870-B1FF-DA17B044F23D}" type="datetimeFigureOut">
              <a:rPr lang="ar-SA" smtClean="0"/>
              <a:t>13/08/46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6DECA-DC29-48F0-869F-2678D342CA1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124239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العنوان والتسمية ال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12DC2-B37A-4870-B1FF-DA17B044F23D}" type="datetimeFigureOut">
              <a:rPr lang="ar-SA" smtClean="0"/>
              <a:t>13/08/46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6DECA-DC29-48F0-869F-2678D342CA1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9796110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اقتباس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12DC2-B37A-4870-B1FF-DA17B044F23D}" type="datetimeFigureOut">
              <a:rPr lang="ar-SA" smtClean="0"/>
              <a:t>13/08/46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6DECA-DC29-48F0-869F-2678D342CA1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3167471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بطاقة اس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12DC2-B37A-4870-B1FF-DA17B044F23D}" type="datetimeFigureOut">
              <a:rPr lang="ar-SA" smtClean="0"/>
              <a:t>13/08/46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6DECA-DC29-48F0-869F-2678D342CA1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8235407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أعمد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12DC2-B37A-4870-B1FF-DA17B044F23D}" type="datetimeFigureOut">
              <a:rPr lang="ar-SA" smtClean="0"/>
              <a:t>13/08/46</a:t>
            </a:fld>
            <a:endParaRPr lang="ar-S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6DECA-DC29-48F0-869F-2678D342CA1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7424963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أعمدة صو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ar-SA"/>
              <a:t>انقر فوق الأيقونة لإضافة صورة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ar-SA"/>
              <a:t>انقر فوق الأيقونة لإضافة صورة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ar-SA"/>
              <a:t>انقر فوق الأيقونة لإضافة صورة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12DC2-B37A-4870-B1FF-DA17B044F23D}" type="datetimeFigureOut">
              <a:rPr lang="ar-SA" smtClean="0"/>
              <a:t>13/08/46</a:t>
            </a:fld>
            <a:endParaRPr lang="ar-S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ar-S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6DECA-DC29-48F0-869F-2678D342CA1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1851424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2B312DC2-B37A-4870-B1FF-DA17B044F23D}" type="datetimeFigureOut">
              <a:rPr lang="ar-SA" smtClean="0"/>
              <a:t>13/08/46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6DECA-DC29-48F0-869F-2678D342CA1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6960924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2B312DC2-B37A-4870-B1FF-DA17B044F23D}" type="datetimeFigureOut">
              <a:rPr lang="ar-SA" smtClean="0"/>
              <a:t>13/08/46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6DECA-DC29-48F0-869F-2678D342CA1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274070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312DC2-B37A-4870-B1FF-DA17B044F23D}" type="datetimeFigureOut">
              <a:rPr lang="ar-SA" smtClean="0"/>
              <a:t>13/08/46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ar-SA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1806DECA-DC29-48F0-869F-2678D342CA1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418212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1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342900" indent="-3429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2820C1EE-B379-B4E3-C744-162C4734F1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Questionnaire Analysis</a:t>
            </a: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1168682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23676307-4A4F-6686-EC18-200E9B0BC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F8FAFF"/>
                </a:solidFill>
                <a:effectLst/>
                <a:latin typeface="Inter"/>
              </a:rPr>
              <a:t>Introduction</a:t>
            </a:r>
            <a:br>
              <a:rPr lang="en-US" b="1" i="0" dirty="0">
                <a:solidFill>
                  <a:srgbClr val="F8FAFF"/>
                </a:solidFill>
                <a:effectLst/>
                <a:latin typeface="Inter"/>
              </a:rPr>
            </a:br>
            <a:endParaRPr lang="ar-SA" dirty="0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FC3D36FE-DCE2-5CD6-327B-7BCD305438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l" rtl="0">
              <a:buNone/>
            </a:pPr>
            <a:r>
              <a:rPr lang="en-US" b="1" dirty="0">
                <a:solidFill>
                  <a:schemeClr val="tx1"/>
                </a:solidFill>
              </a:rPr>
              <a:t>Objective</a:t>
            </a:r>
          </a:p>
          <a:p>
            <a:pPr marL="0" indent="0" algn="l" rtl="0">
              <a:buNone/>
            </a:pPr>
            <a:r>
              <a:rPr lang="en-US" dirty="0">
                <a:solidFill>
                  <a:schemeClr val="tx1"/>
                </a:solidFill>
              </a:rPr>
              <a:t>	Develop an automated system to detect and extract barcodes from 	images 	using image processing techniques.</a:t>
            </a:r>
          </a:p>
          <a:p>
            <a:pPr marL="0" indent="0" algn="l" rtl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 algn="l" rtl="0">
              <a:buNone/>
            </a:pPr>
            <a:r>
              <a:rPr lang="en-US" b="1" dirty="0">
                <a:solidFill>
                  <a:schemeClr val="tx1"/>
                </a:solidFill>
              </a:rPr>
              <a:t>Problem Statement</a:t>
            </a:r>
          </a:p>
          <a:p>
            <a:pPr marL="0" indent="0" algn="l" rtl="0">
              <a:buNone/>
            </a:pPr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/>
              <a:t>Manual barcode detection is inefficient and prone to errors. Automation 	enhances accuracy and speed.</a:t>
            </a:r>
          </a:p>
          <a:p>
            <a:pPr marL="0" indent="0" algn="l" rtl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 algn="l" rtl="0">
              <a:buNone/>
            </a:pPr>
            <a:r>
              <a:rPr lang="en-US" b="1" dirty="0">
                <a:solidFill>
                  <a:schemeClr val="tx1"/>
                </a:solidFill>
              </a:rPr>
              <a:t>Solution</a:t>
            </a:r>
          </a:p>
          <a:p>
            <a:pPr marL="0" indent="0" algn="l" rtl="0">
              <a:buNone/>
            </a:pPr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/>
              <a:t>Utilize Python and OpenCV for image processing and barcode recognition</a:t>
            </a:r>
          </a:p>
          <a:p>
            <a:pPr marL="0" indent="0" algn="l" rtl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 algn="l" rtl="0">
              <a:buNone/>
            </a:pPr>
            <a:endParaRPr lang="ar-SA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4052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6DABB1FA-C0BF-331C-AB7F-7F1A02B4F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F8FAFF"/>
                </a:solidFill>
                <a:effectLst/>
                <a:latin typeface="Inter"/>
              </a:rPr>
              <a:t>Tools and Libraries</a:t>
            </a:r>
            <a:br>
              <a:rPr lang="en-US" b="1" i="0" dirty="0">
                <a:solidFill>
                  <a:srgbClr val="F8FAFF"/>
                </a:solidFill>
                <a:effectLst/>
                <a:latin typeface="Inter"/>
              </a:rPr>
            </a:br>
            <a:endParaRPr lang="ar-SA" dirty="0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E5B53DEB-5E91-6B0C-F1E7-F1882CA5A7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l" rtl="0"/>
            <a:r>
              <a:rPr lang="en-US" b="1" dirty="0">
                <a:solidFill>
                  <a:srgbClr val="002060"/>
                </a:solidFill>
              </a:rPr>
              <a:t>Python Libraries Used:</a:t>
            </a:r>
          </a:p>
          <a:p>
            <a:pPr algn="l" rtl="0"/>
            <a:endParaRPr lang="en-US" dirty="0">
              <a:solidFill>
                <a:schemeClr val="tx1"/>
              </a:solidFill>
            </a:endParaRPr>
          </a:p>
          <a:p>
            <a:pPr lvl="1" algn="l" rtl="0"/>
            <a:r>
              <a:rPr lang="en-US" b="1" dirty="0">
                <a:solidFill>
                  <a:schemeClr val="tx1"/>
                </a:solidFill>
              </a:rPr>
              <a:t>OpenCV</a:t>
            </a:r>
            <a:r>
              <a:rPr lang="en-US" dirty="0">
                <a:solidFill>
                  <a:schemeClr val="tx1"/>
                </a:solidFill>
              </a:rPr>
              <a:t>: Image processing and contour detection.</a:t>
            </a:r>
          </a:p>
          <a:p>
            <a:pPr lvl="1" algn="l" rtl="0"/>
            <a:endParaRPr lang="en-US" dirty="0">
              <a:solidFill>
                <a:schemeClr val="tx1"/>
              </a:solidFill>
            </a:endParaRPr>
          </a:p>
          <a:p>
            <a:pPr lvl="1" algn="l" rtl="0"/>
            <a:r>
              <a:rPr lang="en-US" b="1" dirty="0">
                <a:solidFill>
                  <a:schemeClr val="tx1"/>
                </a:solidFill>
              </a:rPr>
              <a:t>NumPy</a:t>
            </a:r>
            <a:r>
              <a:rPr lang="en-US" dirty="0">
                <a:solidFill>
                  <a:schemeClr val="tx1"/>
                </a:solidFill>
              </a:rPr>
              <a:t>: Numerical operations on image arrays.</a:t>
            </a:r>
          </a:p>
          <a:p>
            <a:pPr lvl="1" algn="l" rtl="0"/>
            <a:endParaRPr lang="en-US" dirty="0">
              <a:solidFill>
                <a:schemeClr val="tx1"/>
              </a:solidFill>
            </a:endParaRPr>
          </a:p>
          <a:p>
            <a:pPr lvl="1" algn="l" rtl="0"/>
            <a:r>
              <a:rPr lang="en-US" b="1" dirty="0" err="1"/>
              <a:t>Pyzbar</a:t>
            </a:r>
            <a:r>
              <a:rPr lang="en-US" dirty="0"/>
              <a:t>: Decoding barcodes.</a:t>
            </a:r>
          </a:p>
          <a:p>
            <a:pPr lvl="1" algn="l" rtl="0"/>
            <a:endParaRPr lang="en-US" dirty="0">
              <a:solidFill>
                <a:schemeClr val="tx1"/>
              </a:solidFill>
            </a:endParaRPr>
          </a:p>
          <a:p>
            <a:pPr lvl="1" algn="l" rtl="0"/>
            <a:r>
              <a:rPr lang="en-US" b="1" dirty="0">
                <a:solidFill>
                  <a:schemeClr val="tx1"/>
                </a:solidFill>
              </a:rPr>
              <a:t>Matplotlib</a:t>
            </a:r>
            <a:r>
              <a:rPr lang="en-US" dirty="0">
                <a:solidFill>
                  <a:schemeClr val="tx1"/>
                </a:solidFill>
              </a:rPr>
              <a:t>: Visualization of processed images.	</a:t>
            </a:r>
          </a:p>
          <a:p>
            <a:pPr algn="l" rtl="0"/>
            <a:endParaRPr lang="en-US" dirty="0">
              <a:solidFill>
                <a:schemeClr val="tx1"/>
              </a:solidFill>
            </a:endParaRPr>
          </a:p>
          <a:p>
            <a:pPr algn="l" rtl="0"/>
            <a:r>
              <a:rPr lang="en-US" b="1" dirty="0">
                <a:solidFill>
                  <a:srgbClr val="002060"/>
                </a:solidFill>
              </a:rPr>
              <a:t>Environment</a:t>
            </a:r>
            <a:r>
              <a:rPr lang="en-US" dirty="0">
                <a:solidFill>
                  <a:schemeClr val="tx1"/>
                </a:solidFill>
              </a:rPr>
              <a:t>: </a:t>
            </a:r>
            <a:r>
              <a:rPr lang="en-US" dirty="0" err="1">
                <a:solidFill>
                  <a:schemeClr val="tx1"/>
                </a:solidFill>
              </a:rPr>
              <a:t>Jupyter</a:t>
            </a:r>
            <a:r>
              <a:rPr lang="en-US" dirty="0">
                <a:solidFill>
                  <a:schemeClr val="tx1"/>
                </a:solidFill>
              </a:rPr>
              <a:t> Notebook.</a:t>
            </a:r>
          </a:p>
          <a:p>
            <a:pPr algn="l" rtl="0"/>
            <a:endParaRPr lang="en-US" dirty="0">
              <a:solidFill>
                <a:schemeClr val="tx1"/>
              </a:solidFill>
            </a:endParaRPr>
          </a:p>
          <a:p>
            <a:pPr algn="l" rtl="0"/>
            <a:endParaRPr lang="ar-SA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4957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F5430EB9-A5A4-2873-D79C-4A3BB39F6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F8FAFF"/>
                </a:solidFill>
                <a:effectLst/>
                <a:latin typeface="Inter"/>
              </a:rPr>
              <a:t>Image Preprocessing</a:t>
            </a:r>
            <a:br>
              <a:rPr lang="en-US" b="1" i="0" dirty="0">
                <a:solidFill>
                  <a:srgbClr val="F8FAFF"/>
                </a:solidFill>
                <a:effectLst/>
                <a:latin typeface="Inter"/>
              </a:rPr>
            </a:br>
            <a:endParaRPr lang="ar-SA" dirty="0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326705F3-FD76-8F2B-9D25-62C982B6A4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95559" y="1310326"/>
            <a:ext cx="3757545" cy="4713402"/>
          </a:xfrm>
        </p:spPr>
        <p:txBody>
          <a:bodyPr>
            <a:normAutofit/>
          </a:bodyPr>
          <a:lstStyle/>
          <a:p>
            <a:pPr marL="342900" indent="-342900" rtl="0">
              <a:buFont typeface="Wingdings" panose="05000000000000000000" pitchFamily="2" charset="2"/>
              <a:buChar char="Ø"/>
            </a:pPr>
            <a:r>
              <a:rPr lang="en-US" sz="1800" dirty="0"/>
              <a:t>Grayscale Conversion</a:t>
            </a:r>
          </a:p>
          <a:p>
            <a:pPr marL="800100" lvl="1" indent="-342900" algn="r" rtl="0">
              <a:buFont typeface="Wingdings" panose="05000000000000000000" pitchFamily="2" charset="2"/>
              <a:buChar char="Ø"/>
            </a:pPr>
            <a:r>
              <a:rPr lang="en-US" sz="1600" dirty="0"/>
              <a:t> Convert the image to grayscale to simplify processing.</a:t>
            </a:r>
          </a:p>
          <a:p>
            <a:pPr marL="342900" indent="-342900" rtl="0">
              <a:buFont typeface="Wingdings" panose="05000000000000000000" pitchFamily="2" charset="2"/>
              <a:buChar char="Ø"/>
            </a:pPr>
            <a:endParaRPr lang="en-US" sz="1800" dirty="0"/>
          </a:p>
          <a:p>
            <a:pPr marL="342900" indent="-342900" rtl="0">
              <a:buFont typeface="Wingdings" panose="05000000000000000000" pitchFamily="2" charset="2"/>
              <a:buChar char="Ø"/>
            </a:pPr>
            <a:r>
              <a:rPr lang="en-US" sz="1800" dirty="0"/>
              <a:t>Blur Image</a:t>
            </a:r>
          </a:p>
          <a:p>
            <a:pPr marL="800100" lvl="1" indent="-342900" algn="r" rtl="0">
              <a:buFont typeface="Wingdings" panose="05000000000000000000" pitchFamily="2" charset="2"/>
              <a:buChar char="Ø"/>
            </a:pPr>
            <a:r>
              <a:rPr lang="en-US" sz="1600" dirty="0"/>
              <a:t>Apply Gaussian blur to reduce noise.</a:t>
            </a:r>
            <a:endParaRPr lang="en-US" sz="1800" dirty="0"/>
          </a:p>
          <a:p>
            <a:pPr rtl="0"/>
            <a:endParaRPr lang="en-US" sz="1800" dirty="0"/>
          </a:p>
          <a:p>
            <a:pPr marL="342900" indent="-342900" rtl="0">
              <a:buFont typeface="Wingdings" panose="05000000000000000000" pitchFamily="2" charset="2"/>
              <a:buChar char="Ø"/>
            </a:pPr>
            <a:endParaRPr lang="ar-SA" sz="1800" dirty="0"/>
          </a:p>
        </p:txBody>
      </p:sp>
    </p:spTree>
    <p:extLst>
      <p:ext uri="{BB962C8B-B14F-4D97-AF65-F5344CB8AC3E}">
        <p14:creationId xmlns:p14="http://schemas.microsoft.com/office/powerpoint/2010/main" val="813002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872F2E66-EBAC-7847-5EC1-F7C52C569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Barcode </a:t>
            </a:r>
            <a:br>
              <a:rPr lang="en-US" b="1" dirty="0"/>
            </a:br>
            <a:r>
              <a:rPr lang="en-US" b="1" i="0" dirty="0">
                <a:solidFill>
                  <a:srgbClr val="F8FAFF"/>
                </a:solidFill>
                <a:effectLst/>
                <a:latin typeface="Inter"/>
              </a:rPr>
              <a:t> Detection</a:t>
            </a:r>
            <a:br>
              <a:rPr lang="en-US" b="1" i="0" dirty="0">
                <a:solidFill>
                  <a:srgbClr val="F8FAFF"/>
                </a:solidFill>
                <a:effectLst/>
                <a:latin typeface="Inter"/>
              </a:rPr>
            </a:br>
            <a:endParaRPr lang="ar-SA" dirty="0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DA42282F-551A-89F6-9CC5-723752C806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95559" y="1366887"/>
            <a:ext cx="3757545" cy="4562573"/>
          </a:xfrm>
        </p:spPr>
        <p:txBody>
          <a:bodyPr>
            <a:normAutofit/>
          </a:bodyPr>
          <a:lstStyle/>
          <a:p>
            <a:pPr marL="342900" indent="-342900" rtl="0">
              <a:buFont typeface="Wingdings" panose="05000000000000000000" pitchFamily="2" charset="2"/>
              <a:buChar char="Ø"/>
            </a:pPr>
            <a:r>
              <a:rPr lang="en-US" dirty="0"/>
              <a:t>Detect barcode regions using </a:t>
            </a:r>
            <a:r>
              <a:rPr lang="en-US" dirty="0" err="1"/>
              <a:t>Pyzbar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pPr marL="342900" indent="-342900" rtl="0">
              <a:buFont typeface="Wingdings" panose="05000000000000000000" pitchFamily="2" charset="2"/>
              <a:buChar char="Ø"/>
            </a:pPr>
            <a:r>
              <a:rPr lang="en-US" dirty="0"/>
              <a:t>Extract bounding boxes around detected barcodes.</a:t>
            </a:r>
          </a:p>
          <a:p>
            <a:pPr marL="342900" indent="-342900" rtl="0">
              <a:buFont typeface="Wingdings" panose="05000000000000000000" pitchFamily="2" charset="2"/>
              <a:buChar char="Ø"/>
            </a:pP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4203371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650D6B15-D5B6-6DD9-66BF-50E79FFC0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Region Extraction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512D6921-2830-DA67-88B9-B469A466BB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 algn="l" rtl="0">
              <a:buFont typeface="Wingdings" panose="05000000000000000000" pitchFamily="2" charset="2"/>
              <a:buChar char="Ø"/>
            </a:pPr>
            <a:r>
              <a:rPr lang="en-US" dirty="0"/>
              <a:t>Crop and display the barcode region.</a:t>
            </a:r>
          </a:p>
          <a:p>
            <a:pPr marL="342900" indent="-342900" algn="l" rtl="0">
              <a:buFont typeface="Wingdings" panose="05000000000000000000" pitchFamily="2" charset="2"/>
              <a:buChar char="Ø"/>
            </a:pPr>
            <a:endParaRPr lang="en-US" dirty="0"/>
          </a:p>
          <a:p>
            <a:pPr marL="342900" indent="-342900" algn="l" rtl="0">
              <a:buFont typeface="Wingdings" panose="05000000000000000000" pitchFamily="2" charset="2"/>
              <a:buChar char="Ø"/>
            </a:pPr>
            <a:r>
              <a:rPr lang="en-US" dirty="0"/>
              <a:t>Verify extracted barcode for correctness.</a:t>
            </a: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37241550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6AD1507B-794D-DEAE-688E-F5E147FB8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Results and Testing</a:t>
            </a:r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4F559489-30BB-E6CA-1D08-6375E33B6F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95559" y="1282045"/>
            <a:ext cx="3757545" cy="4440025"/>
          </a:xfrm>
        </p:spPr>
        <p:txBody>
          <a:bodyPr>
            <a:normAutofit/>
          </a:bodyPr>
          <a:lstStyle/>
          <a:p>
            <a:pPr marL="342900" indent="-342900" rtl="0">
              <a:buFont typeface="Wingdings" panose="05000000000000000000" pitchFamily="2" charset="2"/>
              <a:buChar char="Ø"/>
            </a:pPr>
            <a:r>
              <a:rPr lang="en-US" b="1" dirty="0"/>
              <a:t>Test Cases</a:t>
            </a:r>
          </a:p>
          <a:p>
            <a:pPr marL="742950" lvl="1" indent="-285750" algn="r" rtl="0">
              <a:buFont typeface="Wingdings" panose="05000000000000000000" pitchFamily="2" charset="2"/>
              <a:buChar char="Ø"/>
            </a:pPr>
            <a:r>
              <a:rPr lang="en-US" dirty="0"/>
              <a:t>The implementation was tested on various images with different barcode types.</a:t>
            </a:r>
          </a:p>
          <a:p>
            <a:pPr marL="742950" lvl="1" indent="-285750" algn="r" rtl="0">
              <a:buFont typeface="Wingdings" panose="05000000000000000000" pitchFamily="2" charset="2"/>
              <a:buChar char="Ø"/>
            </a:pPr>
            <a:r>
              <a:rPr lang="en-US" dirty="0"/>
              <a:t>Successfully detected and extracted barcodes.</a:t>
            </a:r>
          </a:p>
          <a:p>
            <a:pPr marL="342900" indent="-342900" rtl="0">
              <a:buFont typeface="Wingdings" panose="05000000000000000000" pitchFamily="2" charset="2"/>
              <a:buChar char="Ø"/>
            </a:pP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24405385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793EBBD2-5BE7-F2FE-B5B1-A5181CBC3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</a:t>
            </a:r>
            <a:endParaRPr lang="ar-SA" dirty="0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C4FCC9C1-1499-03E0-A400-C179EC947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95559" y="1272619"/>
            <a:ext cx="3757545" cy="4223207"/>
          </a:xfrm>
        </p:spPr>
        <p:txBody>
          <a:bodyPr>
            <a:normAutofit lnSpcReduction="10000"/>
          </a:bodyPr>
          <a:lstStyle/>
          <a:p>
            <a:pPr marL="342900" indent="-342900" algn="l" rtl="0">
              <a:buFont typeface="Wingdings" panose="05000000000000000000" pitchFamily="2" charset="2"/>
              <a:buChar char="Ø"/>
            </a:pPr>
            <a:r>
              <a:rPr lang="en-US" dirty="0"/>
              <a:t>Performance may degrade in low-light conditions.</a:t>
            </a:r>
          </a:p>
          <a:p>
            <a:pPr algn="l" rtl="0"/>
            <a:endParaRPr lang="en-US" dirty="0"/>
          </a:p>
          <a:p>
            <a:pPr marL="342900" indent="-342900" algn="l" rtl="0">
              <a:buFont typeface="Wingdings" panose="05000000000000000000" pitchFamily="2" charset="2"/>
              <a:buChar char="Ø"/>
            </a:pPr>
            <a:r>
              <a:rPr lang="en-US" dirty="0"/>
              <a:t>Distorted or occluded barcodes may not be detected accurately.</a:t>
            </a:r>
          </a:p>
          <a:p>
            <a:pPr marL="342900" indent="-342900" algn="l" rtl="0">
              <a:buFont typeface="Wingdings" panose="05000000000000000000" pitchFamily="2" charset="2"/>
              <a:buChar char="Ø"/>
            </a:pPr>
            <a:endParaRPr lang="en-US" dirty="0"/>
          </a:p>
          <a:p>
            <a:pPr marL="342900" indent="-342900" algn="l" rtl="0">
              <a:buFont typeface="Wingdings" panose="05000000000000000000" pitchFamily="2" charset="2"/>
              <a:buChar char="Ø"/>
            </a:pPr>
            <a:r>
              <a:rPr lang="en-US" dirty="0"/>
              <a:t>Limited support for certain barcode formats.</a:t>
            </a:r>
          </a:p>
        </p:txBody>
      </p:sp>
    </p:spTree>
    <p:extLst>
      <p:ext uri="{BB962C8B-B14F-4D97-AF65-F5344CB8AC3E}">
        <p14:creationId xmlns:p14="http://schemas.microsoft.com/office/powerpoint/2010/main" val="6321884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8933B44C-37A3-522D-BF17-789E8B0CF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F8FAFF"/>
                </a:solidFill>
                <a:effectLst/>
                <a:latin typeface="Inter"/>
              </a:rPr>
              <a:t>Conclusion</a:t>
            </a:r>
            <a:br>
              <a:rPr lang="en-US" b="1" i="0" dirty="0">
                <a:solidFill>
                  <a:srgbClr val="F8FAFF"/>
                </a:solidFill>
                <a:effectLst/>
                <a:latin typeface="Inter"/>
              </a:rPr>
            </a:br>
            <a:endParaRPr lang="ar-SA" dirty="0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9752F879-703E-EBC4-1DFF-033831C135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 rtl="0">
              <a:buFont typeface="Wingdings" panose="05000000000000000000" pitchFamily="2" charset="2"/>
              <a:buChar char="Ø"/>
            </a:pPr>
            <a:r>
              <a:rPr lang="en-US" dirty="0"/>
              <a:t>Summary</a:t>
            </a:r>
          </a:p>
          <a:p>
            <a:pPr lvl="1" algn="l" rtl="0">
              <a:buFont typeface="Wingdings" panose="05000000000000000000" pitchFamily="2" charset="2"/>
              <a:buChar char="Ø"/>
            </a:pPr>
            <a:r>
              <a:rPr lang="en-US" dirty="0"/>
              <a:t>The project successfully automates barcode detection and extraction using image processing techniques.</a:t>
            </a:r>
          </a:p>
          <a:p>
            <a:pPr algn="l" rtl="0">
              <a:buFont typeface="Wingdings" panose="05000000000000000000" pitchFamily="2" charset="2"/>
              <a:buChar char="Ø"/>
            </a:pPr>
            <a:endParaRPr lang="en-US" dirty="0"/>
          </a:p>
          <a:p>
            <a:pPr algn="l" rtl="0">
              <a:buFont typeface="Wingdings" panose="05000000000000000000" pitchFamily="2" charset="2"/>
              <a:buChar char="Ø"/>
            </a:pPr>
            <a:r>
              <a:rPr lang="en-US" dirty="0"/>
              <a:t>Future Work:</a:t>
            </a:r>
          </a:p>
          <a:p>
            <a:pPr lvl="1" algn="l" rtl="0">
              <a:buFont typeface="Wingdings" panose="05000000000000000000" pitchFamily="2" charset="2"/>
              <a:buChar char="Ø"/>
            </a:pPr>
            <a:r>
              <a:rPr lang="en-US" dirty="0"/>
              <a:t>Improve detection under challenging lighting conditions.</a:t>
            </a:r>
          </a:p>
          <a:p>
            <a:pPr lvl="1" algn="l" rtl="0">
              <a:buFont typeface="Wingdings" panose="05000000000000000000" pitchFamily="2" charset="2"/>
              <a:buChar char="Ø"/>
            </a:pPr>
            <a:r>
              <a:rPr lang="en-US" dirty="0"/>
              <a:t>Enhance support for a wider range of barcode formats.</a:t>
            </a:r>
          </a:p>
          <a:p>
            <a:pPr lvl="1" algn="l" rtl="0">
              <a:buFont typeface="Wingdings" panose="05000000000000000000" pitchFamily="2" charset="2"/>
              <a:buChar char="Ø"/>
            </a:pPr>
            <a:r>
              <a:rPr lang="en-US" dirty="0"/>
              <a:t>Increase robustness against distortions.</a:t>
            </a:r>
          </a:p>
          <a:p>
            <a:pPr lvl="1" algn="l" rtl="0">
              <a:buFont typeface="Wingdings" panose="05000000000000000000" pitchFamily="2" charset="2"/>
              <a:buChar char="Ø"/>
            </a:pPr>
            <a:endParaRPr lang="en-US" dirty="0"/>
          </a:p>
          <a:p>
            <a:pPr algn="l" rtl="0"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27030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A1D03FFA-6891-DBF9-85BC-8C1FEC95BB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b="1" i="0" dirty="0">
                <a:solidFill>
                  <a:srgbClr val="F8FAFF"/>
                </a:solidFill>
                <a:effectLst/>
                <a:latin typeface="Inter"/>
              </a:rPr>
              <a:t>Thank You!</a:t>
            </a:r>
            <a:br>
              <a:rPr lang="en-US" b="0" i="0" dirty="0">
                <a:solidFill>
                  <a:srgbClr val="F8FAFF"/>
                </a:solidFill>
                <a:effectLst/>
                <a:latin typeface="Inter"/>
              </a:rPr>
            </a:b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140208326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مجلس إدارة أيون">
  <a:themeElements>
    <a:clrScheme name="مجلس إدارة أيون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مجلس إدارة أيون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مجلس إدارة أيون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349</TotalTime>
  <Words>249</Words>
  <Application>Microsoft Office PowerPoint</Application>
  <PresentationFormat>شاشة عريضة</PresentationFormat>
  <Paragraphs>54</Paragraphs>
  <Slides>10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5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10</vt:i4>
      </vt:variant>
    </vt:vector>
  </HeadingPairs>
  <TitlesOfParts>
    <vt:vector size="16" baseType="lpstr">
      <vt:lpstr>Arial</vt:lpstr>
      <vt:lpstr>Century Gothic</vt:lpstr>
      <vt:lpstr>Inter</vt:lpstr>
      <vt:lpstr>Wingdings</vt:lpstr>
      <vt:lpstr>Wingdings 3</vt:lpstr>
      <vt:lpstr>مجلس إدارة أيون</vt:lpstr>
      <vt:lpstr>Questionnaire Analysis</vt:lpstr>
      <vt:lpstr>Introduction </vt:lpstr>
      <vt:lpstr>Tools and Libraries </vt:lpstr>
      <vt:lpstr>Image Preprocessing </vt:lpstr>
      <vt:lpstr>Barcode   Detection </vt:lpstr>
      <vt:lpstr>Region Extraction</vt:lpstr>
      <vt:lpstr>Results and Testing</vt:lpstr>
      <vt:lpstr>Limitations</vt:lpstr>
      <vt:lpstr>Conclusion </vt:lpstr>
      <vt:lpstr>Thank You!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Hamza Mohammed</dc:creator>
  <cp:lastModifiedBy>Hamza Mohammed</cp:lastModifiedBy>
  <cp:revision>3</cp:revision>
  <dcterms:created xsi:type="dcterms:W3CDTF">2025-02-10T15:13:43Z</dcterms:created>
  <dcterms:modified xsi:type="dcterms:W3CDTF">2025-02-11T16:52:42Z</dcterms:modified>
</cp:coreProperties>
</file>